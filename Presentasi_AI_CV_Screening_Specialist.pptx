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Sistem Otomatisasi Seleksi CV Berbasis AI/ML</a:t>
            </a:r>
          </a:p>
          <a:p>
            <a:pPr>
              <a:spcBef>
                <a:spcPts val="1400"/>
              </a:spcBef>
              <a:defRPr sz="2000">
                <a:solidFill>
                  <a:srgbClr val="0EA5E9"/>
                </a:solidFill>
              </a:defRPr>
            </a:pPr>
            <a:r>
              <a:t>Akselerasi Rekrutmen Cepat, Skalabel, &amp; Objektif untuk Pertumbuhan Industri Manufaktur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03327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70916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Peran: AI / ML Specialist  |  Studi Kasus: Rekrutmen Massal Perusahaan Manufaktur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Solusi: Two-Stage Hybrid Matching (Semantic Embedding + Qualitative LLM Reasoning) &amp; Mitigasi Bias PII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Latar Belakang &amp; Masalah: Rekrutmen Skala Manufaktur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Tantangan 1: Volume &amp; Kecepatan</a:t>
            </a:r>
          </a:p>
          <a:p>
            <a:pPr>
              <a:spcAft>
                <a:spcPts val="1200"/>
              </a:spcAft>
              <a:defRPr sz="1150" b="1">
                <a:solidFill>
                  <a:srgbClr val="F59E0B"/>
                </a:solidFill>
              </a:defRPr>
            </a:pPr>
            <a:r>
              <a:t>Pertumbuhan Cepat Pabrik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Ekspansi lini pabrik menuntut ratusan karyawan dalam hitungan minggu.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Ribuan CV masuk serentak dari portal kerja (Jobstreet, LinkedIn, Glints).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Screening manual (3-5 menit/CV) memakan 60-80 jam kerja HR per batch.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Tantangan 2: Biaya &amp; Bottleneck</a:t>
            </a:r>
          </a:p>
          <a:p>
            <a:pPr>
              <a:spcAft>
                <a:spcPts val="1200"/>
              </a:spcAft>
              <a:defRPr sz="1150" b="1">
                <a:solidFill>
                  <a:srgbClr val="EF4444"/>
                </a:solidFill>
              </a:defRPr>
            </a:pPr>
            <a:r>
              <a:t>Inefisiensi Operasional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Biaya lembur tim HR membengkak tajam.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Siklus Time-to-Hire lama (21-30 hari) memperlambat operasional lantai pabrik.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Keterlambatan pemenuhan posisi inti (Drafter, Operator, Engineer) berisiko downtime produksi.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Tantangan 3: Subjektivitas &amp; Bias</a:t>
            </a:r>
          </a:p>
          <a:p>
            <a:pPr>
              <a:spcAft>
                <a:spcPts val="1200"/>
              </a:spcAft>
              <a:defRPr sz="1150" b="1">
                <a:solidFill>
                  <a:srgbClr val="0EA5E9"/>
                </a:solidFill>
              </a:defRPr>
            </a:pPr>
            <a:r>
              <a:t>Kerapuhan Seleksi Manual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Fatigue Bias: Akurasi recruiter merosot drastis setelah memeriksa puluhan resume.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Unconscious Bias: Penilaian terdistorsi foto, gender, almamater, atau format layout CV.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Kurangnya auditabilitas: Alasan penolakan/penerimaan tidak terdokumentasi rapi.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Solusi End-to-End (4 Lapisan Sistem)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060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60604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Layer 1: Ingestion</a:t>
            </a:r>
          </a:p>
          <a:p>
            <a:pPr>
              <a:spcAft>
                <a:spcPts val="1400"/>
              </a:spcAft>
              <a:defRPr sz="1100" b="1">
                <a:solidFill>
                  <a:srgbClr val="0369A1"/>
                </a:solidFill>
              </a:defRPr>
            </a:pPr>
            <a:r>
              <a:t>Automasi Multi-Portal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Partner API / Webhook (LinkedIn, Jobstreet, Glints)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Konektor ATS (Workday, SuccessFactors, Greenhouse)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Recruitment Email Watcher (IMAP auto-parse)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Cloud Storage Bucket (Raw PDF/DOCX)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060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60604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Layer 2: Preprocessing</a:t>
            </a:r>
          </a:p>
          <a:p>
            <a:pPr>
              <a:spcAft>
                <a:spcPts val="1400"/>
              </a:spcAft>
              <a:defRPr sz="1100" b="1">
                <a:solidFill>
                  <a:srgbClr val="0EA5E9"/>
                </a:solidFill>
              </a:defRPr>
            </a:pPr>
            <a:r>
              <a:t>Parsing &amp; Blind Sanitasi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Multi-format Parser (pdfplumber &amp; docx)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LLM Structured Extraction (JSON Schema)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Strict PII Isolation (Nama, Kontak, Usia, Gender)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Penyimpanan Identitas Terenkripsi Terpisah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6060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6060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Layer 3: AI/ML Engine</a:t>
            </a:r>
          </a:p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Two-Stage Screening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Stage 1: Hard Filter (Pengalaman, Skill, Pendidikan)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Non-lolos langsung dieliminasi (Hemat 70% Komputasi)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Stage 2A: Semantic Vector Match (text-embedding-004)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Stage 2B: Qualitative Reasoning (gemini-2.0-flash)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6060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645920"/>
            <a:ext cx="2606040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92024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Layer 4: HR Decision</a:t>
            </a:r>
          </a:p>
          <a:p>
            <a:pPr>
              <a:spcAft>
                <a:spcPts val="1400"/>
              </a:spcAft>
              <a:defRPr sz="1100" b="1">
                <a:solidFill>
                  <a:srgbClr val="0F172A"/>
                </a:solidFill>
              </a:defRPr>
            </a:pPr>
            <a:r>
              <a:t>Dashboard &amp; Audit Trail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Peringkat Kandidat Terurut (Skor 0-100)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Explainable AI: Strengths, Gaps, &amp; Narasi Alasan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Human-in-the-Loop: Reviewer Final Decision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Export CSV &amp; One-Click Interview Invitation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Strategi Pengumpulan CV Otomatis dari Job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Mengapa Enterprise Manufaktur Memilih Ingestion Resmi Dibanding Web Scraping?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Web scraping melanggar Terms of Service portal kerja, rentan terblokir bot/CAPTCHA, dan bertentangan dengan UU PDP No. 27/2022. Solusi industri manufaktur modern menggunakan integrasi resmi (Webhook, Partner API, &amp; ATS Connector) yang legal, stabil, real-time, dan aman.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33832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1. Webhook &amp; Partner API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Menggunakan LinkedIn Apply Connect API &amp; Jobstreet Partner API.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Event-Driven: Setiap ada pelamar baru, portal kerja mengirim event webhook berisi file PDF &amp; metadata kandidat.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Transmisi data instan (&lt; 3 detik per pelamar).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88920"/>
            <a:ext cx="33832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9718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2. Integrasi ATS Perusahaan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Menghubungkan pipeline ke Applicant Tracking System (Workday, SAP SuccessFactors, Greenhouse).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Menarik data pelamar per Job Posting ID secara asinkron.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Mengembalikan hasil ranking &amp; status shortlist ke ATS secara otomatis.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88920"/>
            <a:ext cx="33832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3. Dedicated Email Watcher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Background worker memonitor inbox recruitment@perusahaan.com via IMAP/OAuth.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Otomatis mendownload lampiran CV (PDF/DOCX) dan memetakan subject email ke Job ID.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 Solusi tangguh untuk portal kerja lokal atau pelamar via referral.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Orkestrasi Ingestion &amp; Notifikasi Otomatis via n8n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1069848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Mengapa Memilih n8n sebagai Event-Driven Orchestration Layer?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n8n berperan sebagai 'glue code' enterprise yang menghubungkan portal kerja luar dengan AI Screening Engine internal kita secara aman, instan (&lt; 5 detik), dan dapat di-host on-premise di server pabrik demi kepatuhan total UU PDP No. 27/2022.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212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369A1"/>
                </a:solidFill>
              </a:defRPr>
            </a:pPr>
            <a:r>
              <a:t>Arsitektur Pipeline 5-Node di n8n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⚙ 1. Trigger Node: Webhook Job Portal (Jobstreet/LinkedIn) + IMAP Email Watcher.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⚙ 2. Storage Node: Upload file CV mentah ke MinIO/S3 lokal pabrik (AES-256).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⚙ 3. AI Execution: HTTP Request POST memanggil Python Microservice (/api/v1/screen-cv).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⚙ 4. Decision Node: Switch Rule: Cek Skor &gt;= 75 dan Lolos Syarat Wajib.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⚙ 5. Dual Branching: Lolos ➔ Auto-Invite Email + Slack HR Alert + Sync ATS.</a:t>
            </a:r>
            <a:br/>
            <a:r>
              <a:t>    Tidak Lolos ➔ Arsipkan ke Talent Pool DB + Rejection Email Sopan.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51760"/>
            <a:ext cx="5212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Nilai Tambah untuk Operasional Manufaktur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Kepatuhan Privasi Data On-Premise: n8n di-self-host dalam VPC/intranet pabrik, menjamin data PII pelamar tidak terekspos ke cloud publik.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Separation of Concerns yang Bersih: n8n mengelola integrasi &amp; notifikasi (low-code), sementara model AI dieksekusi terisolasi di modul Python (high-code).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Kecepatan Respon Kandidat (&lt; 5 Detik): Pelamar unggulan langsung menerima link jadwal wawancara sesaat setelah apply, mencegah kehilangan top talent ke kompetitor.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✔  File Blueprint Siap Produksi: Artifact n8n_cv_screening_workflow.json telah disediakan di repositori, siap langsung di-import ke server pabrik.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Pemilihan Model &amp; Algoritma AI/ML: Mengapa Pendekatan Hybrid?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Model LLM Murni (Generative Only)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</a:defRPr>
            </a:pPr>
            <a:r>
              <a:t>Pintar, Namun Mahal &amp; Fluktuatif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 Kelebihan: Penalaran kualitatif sangat baik.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 Kelemahan: Biaya API token membengkak untuk volume ribuan CV.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 Non-deterministik: Ada fluktuasi skor antar-run untuk kandidat yang sama jika temperatur &gt; 0.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 Latency tinggi: Tidak efisien untuk filtering awal ribuan pelamar.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Embedding Similarity Murni (Vector Only)</a:t>
            </a:r>
          </a:p>
          <a:p>
            <a:pPr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Cepat &amp; Murah, Tapi 'Buta' Narasi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 Kelebihan: Cosine similarity sangat cepat (&lt; 50ms) dan 100% konsisten.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 Kelemahan: Tidak mampu memberikan alasan naratif (explainability) bagi HR.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•  Kelemahan: Rentan tertipu 'keyword stuffing' jika kandidat menumpuk kata kunci tanpa relevansi kerja nyata.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Pendekatan Hybrid Kami (Best of Both)</a:t>
            </a:r>
          </a:p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Optimal: Akurat, Hemat, &amp; Terang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 Tahap 1 Hard Filter: Eliminasi deterministik syarat mutlak (Pengalaman, Skill, Pendidikan).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 Tahap 2A Embedding (35%): text-embedding-004 memberikan baseline kesamaan semantik yang konsisten.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 Tahap 2B LLM Reasoning (65%): gemini-2.0-flash menganalisis kekuatan, kekurangan, &amp; narasi pertimbangan.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 Hasil: Hemat biaya 70-75%, bebas variasi acak, dan memberikan audit trail transparan bagi HR.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Two-Stage Funnel: Efisiensi Biaya &amp; Standardisasi Skor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369A1"/>
                </a:solidFill>
              </a:defRPr>
            </a:pPr>
            <a:r>
              <a:t>Stage 1: Gatekeeper (Hard Filter)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Fungsi: Memvalidasi kriteria mutlak yang tidak bisa dikompromikan.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Komponen Evaluasi: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  1. Minimal Pengalaman Kerja (cth: minimal 2 tahun relevan).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  2. Penguasaan Skill Wajib (normalized token &amp; boundary matching).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  3. Jenjang Pendidikan Formal (SMK/SMA &lt; D3 &lt; S1 &lt; S2).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Efisiensi: Pelamar yang tidak memenuhi syarat langsung ditandai 'Gagal Syarat Wajib' beserta catatan kekurangannya.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Dampak Finansial: Memotong 60-75% beban pemrosesan LLM -&gt; Menjamin biaya API tetap terkendali pada volume besar.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Stage 2: Hybrid Scoring &amp; Ranking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Fungsi: Menilai kecocokan komprehensif bagi kandidat yang lolos Stage 1.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Formula Hybrid Scoring: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  Skor Akhir = (Embedding Score × 35%) + (LLM Score × 65%)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Bobot Embedding (35%):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  Menghitung cosine similarity vektor kandidat vs JD menggunakan model Google text-embedding-004.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Bobot LLM Reasoning (65%):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  Evaluasi mendalam model Gemini Flash pada relevansi portofolio kerja, variasi tanggung jawab, dan kedalaman teknis.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Output Terstruktur: Skor 0-100 + Poin Kekuatan + Poin Kesenjangan + Narasi Keputusan untuk Tim Rekrutmen.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Pertimbangan Etika, Mitigasi Bias, &amp; Kepatuhan Privasi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Blind Auditing Framework</a:t>
            </a:r>
          </a:p>
          <a:p>
            <a:pPr>
              <a:spcAft>
                <a:spcPts val="1200"/>
              </a:spcAft>
              <a:defRPr sz="1100" b="1">
                <a:solidFill>
                  <a:srgbClr val="0369A1"/>
                </a:solidFill>
              </a:defRPr>
            </a:pPr>
            <a:r>
              <a:t>Pemisahan PII dari Engine AI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Identitas kandidat (Nama, Gender, Usia, Agama, Foto, Status Pernikahan, No. Telepon, Email) dipisahkan total sebelum scoring.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Payload yang dikirim ke LLM murni hanya memuat kompetensi kerja, pengalaman terstruktur, dan sertifikasi.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Identitas digabungkan kembali HANYA pada tahap pelaporan akhir bagi recruiter.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Kepatuhan Regulasi UU PDP</a:t>
            </a:r>
          </a:p>
          <a:p>
            <a:pPr>
              <a:spcAft>
                <a:spcPts val="1200"/>
              </a:spcAft>
              <a:defRPr sz="1100" b="1">
                <a:solidFill>
                  <a:srgbClr val="0369A1"/>
                </a:solidFill>
              </a:defRPr>
            </a:pPr>
            <a:r>
              <a:t>UU No. 27 Tahun 2022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Data Minimization: Sistem hanya memproses data yang relevan dengan kualifikasi kerja.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Storage Limitation: File CV sementara di-purge otomatis setelah parsing selesai.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Enkripsi: Data tersimpan dienkripsi in-transit (TLS 1.3) dan at-rest (AES-256) untuk mencegah kebocoran data pelamar.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Explainable AI &amp; Auditability</a:t>
            </a:r>
          </a:p>
          <a:p>
            <a:pPr>
              <a:spcAft>
                <a:spcPts val="1200"/>
              </a:spcAft>
              <a:defRPr sz="1100" b="1">
                <a:solidFill>
                  <a:srgbClr val="0369A1"/>
                </a:solidFill>
              </a:defRPr>
            </a:pPr>
            <a:r>
              <a:t>Transparansi Keputusan Anti-Blackbox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Setiap keputusan didukung bukti tertulis: Strengths (Kekuatan) dan Gaps (Kekurangan).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Recruiter dapat membaca narasi pertimbangan AI sebelum memutuskan mengundang wawancara.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Menyediakan mekanisme review kedua (Human Review) bagi kandidat dengan status marginal.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Kelayakan Implementasi &amp; Skalabilitas di Pabrik Manufaktur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Arsitektur Produksi Skala Enterprise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 Asynchronous Job Queue: Memanfaatkan RabbitMQ / Redis Queue / Celery untuk memproses ribuan CV secara batch tanpa membuat server web freeze.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 Microservices Architecture: Parser service, embedding worker, dan LLM worker berjalan terpisah dalam container Docker yang mudah di-scale horizontal.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 Vector Database Terdistribusi: Qdrant / Milvus / PGVector untuk menyimpan jutaan profil bakat pabrik dan mendukung pencarian semantik instan.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 High-Throughput Concurrency: Mampu memproses &gt; 10.000 CV per jam saat rekrutmen massal pembukaan pabrik baru.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369A1"/>
                </a:solidFill>
              </a:defRPr>
            </a:pPr>
            <a:r>
              <a:t>Human-in-the-Loop &amp; Adaptabilitas Pabrik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 AI Sebagai Co-Pilot Cerdas: Sistem menyaring dan menyusun peringkat; keputusan final wawancara tetap berada di tangan Recruiter &amp; Line Manager.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 Dukungan Ragam Posisi Manufaktur: Fleksibel mengevaluasi Plant CAD Drafter, Automation Engineer, PLC Specialist, Operator Produksi, hingga Staff PPIC &amp; QC.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 Integrasi HRIS &amp; Mesin Presensi: REST API mudah disambungkan ke HRIS internal pabrik untuk penjadwalan wawancara dan onboarding otomatis.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Analisis Efisiensi, Reduksi Biaya, &amp; Dampak Bisnis (ROI)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06040" cy="2011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369A1"/>
                </a:solidFill>
              </a:defRPr>
            </a:pPr>
            <a:r>
              <a:t>95%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Efisiensi Waktu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Screening 1.000 CV turun dari 50 jam kerja menjadi &lt; 15 menit pemrosesan otomatis.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06040" cy="2011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369A1"/>
                </a:solidFill>
              </a:defRPr>
            </a:pPr>
            <a:r>
              <a:t>75%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Penghematan Biaya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Mengurangi biaya lembur rekruter &amp; mengeliminasi ketergantungan pada agensi rekrutmen pihak ketiga.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606040" cy="2011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3736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369A1"/>
                </a:solidFill>
              </a:defRPr>
            </a:pPr>
            <a:r>
              <a:t>3 Hari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Time-to-Hire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Memangkas siklus dari rata-rata 21-25 hari menjadi 3-5 hari siap wawancara.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606040" cy="2011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73736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369A1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Objektivitas &amp; Konsistensi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Standardisasi evaluasi bebas bias lelah shift kerja dan subjektivitas manusia.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Perbandingan Sebelum vs Sesudah Implementasi AI CV Screening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Kapasitas Screening: Maksimal 150-200 CV per hari per recruiter  ➔  Ribuan CV diproses secara simultan dalam hitungan menit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Risiko Bias Manusia: Tinggi (terpengaruh foto, gender, nama, almamater)  ➔  Nol pada tahap AI (Blind Screening berbasis kompetensi)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Auditability &amp; Keterbukaan: Subjektif, tidak ada rekaman alasan penolakan detail  ➔  100% transparan dengan Strengths, Gaps, dan Reasoning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Dampak pada Operasional Pabrik: Kekurangan operator &amp; drafter memperlambat shift  ➔  Pemenuhan man-power tepat waktu, zero production downtime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Demonstrasi Proof of Concept (PoC) &amp; Validasi Hasil Uji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Fitur Utama PoC (Streamlit + Gemini)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 1. Dynamic Job Presets: Template siap pakai untuk Plant CAD Drafter &amp; Backend Engineer Pabrik.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 2. One-Click Demo: Tombol pengujian langsung terhadap 5 CV sampel anonim bawaan.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 3. Multi-Format Ingestion: Ekstraksi teks otomatis dari file PDF &amp; tabel DOCX.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 4. Strict Blind Isolation: PII disensor ketat sebelum proses scoring semantik.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 5. Metrik Dashboard: Total pelamar, rasio lolos hard filter, dan rata-rata skor.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✔  6. Audit Trail &amp; CSV Export: Detail kekuatan/kelemahan per kandidat siap diunduh tim HR.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369A1"/>
                </a:solidFill>
              </a:defRPr>
            </a:pPr>
            <a:r>
              <a:t>Hasil Uji Nyata Terhadap 5 Sample CV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• Rank #1: Dani (Skor: 87.4)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 Lolos (Exp: 3 thn, SMK &amp; S1, AutoCAD &amp; SketchUp) ➔ Rekomendasi Utama Wawancara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• Rank #2: INDRI (Skor: 86.3)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 Lolos (Exp: 2 thn, S1 &amp; Master, AutoCAD &amp; SketchUp) ➔ Rekomendasi Wawancara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• Rank #3: Bayu (Skor: 84.3)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 Lolos (Exp: 6 thn, S1 Arsitektur, AutoCAD &amp; SketchUp) ➔ Rekomendasi Wawancara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• Rank #4: Permana Abadi (Skor: 76.6)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 Lolos (Exp: 3 thn, S1, AutoCAD &amp; SketchUp) ➔ Rekomendasi Wawancara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Rank #5: MOHAMAD (Skor: 0.0)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 Gagal Syarat Wajib (Skill SketchUp tidak ada) ➔ Tidak Lolos Filter Awal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ASSESSMENT: AI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Roadmap Implementasi Produksi (3 Tahap Eksekusi)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Fase 1: Pilot &amp; Validasi</a:t>
            </a:r>
          </a:p>
          <a:p>
            <a:pPr>
              <a:spcAft>
                <a:spcPts val="1200"/>
              </a:spcAft>
              <a:defRPr sz="1100" b="1">
                <a:solidFill>
                  <a:srgbClr val="0369A1"/>
                </a:solidFill>
              </a:defRPr>
            </a:pPr>
            <a:r>
              <a:t>Bulan 1 (Setup &amp; Benchmark)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Deployment PoC ke lingkungan internal staging.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Benchmarking skor AI terhadap 200 keputusan manual historis tim HR.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Fine-tuning bobot hybrid (embedding vs LLM) berdasarkan karakteristik peran manufaktur.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Pelatihan pengoperasian bagi tim rekruter pabrik.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Fase 2: Integrasi Sistem</a:t>
            </a:r>
          </a:p>
          <a:p>
            <a:pPr>
              <a:spcAft>
                <a:spcPts val="1200"/>
              </a:spcAft>
              <a:defRPr sz="1100" b="1">
                <a:solidFill>
                  <a:srgbClr val="0EA5E9"/>
                </a:solidFill>
              </a:defRPr>
            </a:pPr>
            <a:r>
              <a:t>Bulan 2 - 3 (Automation)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Integrasi Webhook resmi dengan Jobstreet &amp; LinkedIn.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Koneksi API dua arah ke HRIS / ATS eksisting perusahaan.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Implementasi Asynchronous Queue (Celery/RabbitMQ) untuk throughput tinggi.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Penerapan audit keamanan data &amp; audit kepatuhan UU PDP.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Fase 3: Skalabilitas Penuh</a:t>
            </a:r>
          </a:p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Bulan 4+ (Enterprise Scale)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Rollout penuh ke seluruh departemen pabrik &amp; plant cabang.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Penambahan modul Vision OCR untuk CV scan/gambar non-teks.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Modul Automated Interview Scheduling terintegrasi kalender HR.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 Continuous Learning &amp; evaluasi bias berkala (Quarterly Audit).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Kesimpulan &amp; Nilai Tambah Strategis AI Specialist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3272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Efisiensi &amp; Akselerasi Rekrutmen: Sistem otomatisasi Two-Stage Hybrid AI memangkas 95% waktu screening, memastikan pembukaan lini manufaktur didukung tenaga kerja tepat waktu.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Penghematan Biaya Finansial: Kombinasi Hard Filter gatekeeper dan model hybrid menjaga biaya API tetap minimum (turun 70-75%) dibanding solusi LLM murni.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Keadilan &amp; Kepatuhan Regulasi: Pemisahan PII (Blind Auditing) dan penjelasan transparan (XAI) menjamin seleksi 100% objektif, etis, serta patuh penuh pada UU PDP No. 27/2022.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✔  Kesiapan Produksi (Enterprise-Ready): Solusi dirancang modular dan terukur, siap bertransisi mulus dari Proof of Concept menjadi infrastruktur rekrutmen permanen perusahaan manufaktur.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